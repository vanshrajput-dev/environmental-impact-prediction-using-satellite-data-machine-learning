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urosat_ppt/images/eda_sample_gr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13716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937760" y="0"/>
            <a:ext cx="731520" cy="5143500"/>
          </a:xfrm>
          <a:prstGeom prst="rect">
            <a:avLst/>
          </a:prstGeom>
          <a:solidFill>
            <a:srgbClr val="0A0F1E">
              <a:alpha val="70000"/>
            </a:srgbClr>
          </a:solidFill>
          <a:ln w="12700">
            <a:solidFill>
              <a:srgbClr val="0A0F1E">
                <a:alpha val="7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502920"/>
            <a:ext cx="2377440" cy="347472"/>
          </a:xfrm>
          <a:prstGeom prst="rect">
            <a:avLst/>
          </a:prstGeom>
          <a:solidFill>
            <a:srgbClr val="00C2A8">
              <a:alpha val="2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5120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REMOTE SENSING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9601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EuroSAT</a:t>
            </a:r>
            <a:endParaRPr lang="en-US" sz="6800" dirty="0"/>
          </a:p>
        </p:txBody>
      </p:sp>
      <p:sp>
        <p:nvSpPr>
          <p:cNvPr id="10" name="Text 7"/>
          <p:cNvSpPr/>
          <p:nvPr/>
        </p:nvSpPr>
        <p:spPr>
          <a:xfrm>
            <a:off x="274320" y="20116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 Classification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74320" y="2743200"/>
            <a:ext cx="32004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29077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 Prediction using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Satellite Data &amp; Deep Learning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4320" y="4114800"/>
            <a:ext cx="960120" cy="749808"/>
          </a:xfrm>
          <a:prstGeom prst="rect">
            <a:avLst/>
          </a:prstGeom>
          <a:solidFill>
            <a:srgbClr val="1A2740"/>
          </a:solidFill>
          <a:ln w="10160">
            <a:solidFill>
              <a:srgbClr val="4B556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41513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74320" y="45171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353312" y="4114800"/>
            <a:ext cx="960120" cy="749808"/>
          </a:xfrm>
          <a:prstGeom prst="rect">
            <a:avLst/>
          </a:prstGeom>
          <a:solidFill>
            <a:srgbClr val="1A2740"/>
          </a:solidFill>
          <a:ln w="10160">
            <a:solidFill>
              <a:srgbClr val="4B55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53312" y="41513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24K+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353312" y="45171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32304" y="4114800"/>
            <a:ext cx="960120" cy="749808"/>
          </a:xfrm>
          <a:prstGeom prst="rect">
            <a:avLst/>
          </a:prstGeom>
          <a:solidFill>
            <a:srgbClr val="1A2740"/>
          </a:solidFill>
          <a:ln w="10160">
            <a:solidFill>
              <a:srgbClr val="4B556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32304" y="41513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64×64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432304" y="45171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511296" y="4114800"/>
            <a:ext cx="960120" cy="749808"/>
          </a:xfrm>
          <a:prstGeom prst="rect">
            <a:avLst/>
          </a:prstGeom>
          <a:solidFill>
            <a:srgbClr val="1A2740"/>
          </a:solidFill>
          <a:ln w="10160">
            <a:solidFill>
              <a:srgbClr val="4B556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11296" y="41513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511296" y="45171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— from the real-world problem to model results and impact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1508760"/>
          </a:xfrm>
          <a:prstGeom prst="rect">
            <a:avLst/>
          </a:prstGeom>
          <a:solidFill>
            <a:srgbClr val="1A2740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52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land-use mapping matters &amp; the scale challenge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788920" cy="1508760"/>
          </a:xfrm>
          <a:prstGeom prst="rect">
            <a:avLst/>
          </a:prstGeom>
          <a:solidFill>
            <a:srgbClr val="1A27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43000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252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28416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28416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EuroSAT dataset — classes, distribution &amp; visual quality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1143000"/>
            <a:ext cx="2788920" cy="1508760"/>
          </a:xfrm>
          <a:prstGeom prst="rect">
            <a:avLst/>
          </a:prstGeom>
          <a:solidFill>
            <a:srgbClr val="1A2740"/>
          </a:solidFill>
          <a:ln w="190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143000"/>
            <a:ext cx="278892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252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72784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72784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analysis, pixel stats &amp; inter-class similarity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788920" cy="1508760"/>
          </a:xfrm>
          <a:prstGeom prst="rect">
            <a:avLst/>
          </a:prstGeom>
          <a:solidFill>
            <a:srgbClr val="1A274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27889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443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4048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transfer learning pipeline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2834640"/>
            <a:ext cx="2788920" cy="1508760"/>
          </a:xfrm>
          <a:prstGeom prst="rect">
            <a:avLst/>
          </a:prstGeom>
          <a:solidFill>
            <a:srgbClr val="1A274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834640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29443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28416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28416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confidence calibration &amp; failure modes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3056" y="2834640"/>
            <a:ext cx="2788920" cy="1508760"/>
          </a:xfrm>
          <a:prstGeom prst="rect">
            <a:avLst/>
          </a:prstGeom>
          <a:solidFill>
            <a:srgbClr val="1A27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2834640"/>
            <a:ext cx="27889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29443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72784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72784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deployability &amp; next steps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572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4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164592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automated land-use classification matter? What is at stake for the environment, and why can't humans do this alone?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Scale of 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Earth's surface manually is no longer feasible — the data outpaces human capacity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7315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Scale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land surface spans 150 million km². Manual surveys take decades. Satellite sensors produce terabytes of new imagery every single day.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20624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984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Environmental Urgency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7190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Deforestation, desertification, urban sprawl and crop failure are happening faster than we can detect. Delay = irreversible damage.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20624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88920"/>
            <a:ext cx="73152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986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Data Abundance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3192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ESA's free Sentinel-2 satellite covers the globe every 5 days at 10m resolution. The raw data exists — the bottleneck is analysis.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420624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788920"/>
            <a:ext cx="73152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8986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🧑‍🔬  Human Limitation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33192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thousands of analysts, consistent, real-time global classification is impossible by hand. We need automation.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deep learning to automatically classify satellite imagery — fast, consistent, scalable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1280160"/>
          </a:xfrm>
          <a:prstGeom prst="rect">
            <a:avLst/>
          </a:prstGeom>
          <a:solidFill>
            <a:srgbClr val="1A2740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91440" cy="12801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deep learning model to look at a 64×64 satellite image patch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instantly classify what type of land it shows — at planetary scale.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2788920" cy="2286000"/>
          </a:xfrm>
          <a:prstGeom prst="rect">
            <a:avLst/>
          </a:prstGeom>
          <a:solidFill>
            <a:srgbClr val="1A27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606040"/>
            <a:ext cx="27889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249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🛰️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Input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open-access satellite imagery from ESA. Global coverage, every 5 days.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18688" y="2606040"/>
            <a:ext cx="2788920" cy="2286000"/>
          </a:xfrm>
          <a:prstGeom prst="rect">
            <a:avLst/>
          </a:prstGeom>
          <a:solidFill>
            <a:srgbClr val="1A27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2606040"/>
            <a:ext cx="278892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7249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55848" y="3291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55848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deep CNN. Transfer learning from ImageNet. Fine-tuned on EuroSAT.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63056" y="2606040"/>
            <a:ext cx="2788920" cy="2286000"/>
          </a:xfrm>
          <a:prstGeom prst="rect">
            <a:avLst/>
          </a:prstGeom>
          <a:solidFill>
            <a:srgbClr val="1A27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2606040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27249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00216" y="3291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 Output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0216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classes identified instantly: crops, forest, roads, water, buildings and more.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572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4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164592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EuroSAT dataset — 27,000 labeled satellite images across 10 land-use classes, derived from the ESA Sentinel-2 mission.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EuroSAT?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 dataset for land-use classification built from Sentinel-2 multispectral satellite imagery</a:t>
            </a:r>
            <a:endParaRPr lang="en-US" sz="1200" dirty="0"/>
          </a:p>
        </p:txBody>
      </p:sp>
      <p:pic>
        <p:nvPicPr>
          <p:cNvPr id="5" name="Image 0" descr="/home/claude/eurosat_ppt/images/eda_sample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329184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73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samples per class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794760" y="1097280"/>
            <a:ext cx="5029200" cy="658368"/>
          </a:xfrm>
          <a:prstGeom prst="rect">
            <a:avLst/>
          </a:prstGeom>
          <a:solidFill>
            <a:srgbClr val="1A2740"/>
          </a:solidFill>
          <a:ln w="8890">
            <a:solidFill>
              <a:srgbClr val="4B55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0" y="11521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Source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3192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Sentinel-2 satellite — 13 spectral bands, 10m ground resolution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794760" y="1856232"/>
            <a:ext cx="5029200" cy="658368"/>
          </a:xfrm>
          <a:prstGeom prst="rect">
            <a:avLst/>
          </a:prstGeom>
          <a:solidFill>
            <a:srgbClr val="1A2740"/>
          </a:solidFill>
          <a:ln w="8890">
            <a:solidFill>
              <a:srgbClr val="4B55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0" y="1911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 Size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31920" y="2176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is 64×64 pixels, covering ~640m × 640m of real terrain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94760" y="2615184"/>
            <a:ext cx="5029200" cy="658368"/>
          </a:xfrm>
          <a:prstGeom prst="rect">
            <a:avLst/>
          </a:prstGeom>
          <a:solidFill>
            <a:srgbClr val="1A2740"/>
          </a:solidFill>
          <a:ln w="8890">
            <a:solidFill>
              <a:srgbClr val="4B556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0" y="26700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10 Classes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31920" y="2935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AnnualCrop · Forest · HerbaceousVegetation · Highway · Industrial · Pasture · PermanentCrop · Residential · River · SeaLake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794760" y="3374136"/>
            <a:ext cx="5029200" cy="658368"/>
          </a:xfrm>
          <a:prstGeom prst="rect">
            <a:avLst/>
          </a:prstGeom>
          <a:solidFill>
            <a:srgbClr val="1A2740"/>
          </a:solidFill>
          <a:ln w="8890">
            <a:solidFill>
              <a:srgbClr val="4B55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0" y="3429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 Split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931920" y="36941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18,957 training  ·  5,455 validation  ·  balanced test set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794760" y="4133088"/>
            <a:ext cx="5029200" cy="658368"/>
          </a:xfrm>
          <a:prstGeom prst="rect">
            <a:avLst/>
          </a:prstGeom>
          <a:solidFill>
            <a:srgbClr val="1A2740"/>
          </a:solidFill>
          <a:ln w="8890">
            <a:solidFill>
              <a:srgbClr val="4B556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31920" y="4187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Class Balance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931920" y="4453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imbalance (1.44× ratio) — manageable, representative of real distributions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Class Distribution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images are there per class? Is the data balanced enough for fair training?</a:t>
            </a:r>
            <a:endParaRPr lang="en-US" sz="1200" dirty="0"/>
          </a:p>
        </p:txBody>
      </p:sp>
      <p:pic>
        <p:nvPicPr>
          <p:cNvPr id="5" name="Image 0" descr="/home/claude/eurosat_ppt/images/eda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59436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078992"/>
            <a:ext cx="2468880" cy="1005840"/>
          </a:xfrm>
          <a:prstGeom prst="rect">
            <a:avLst/>
          </a:prstGeom>
          <a:solidFill>
            <a:srgbClr val="1A27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1133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Majority class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10528" y="13898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AnnualCrop, Forest, HerbaceousVeg, Residential, SeaLake: 2,100 images each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0" y="2212848"/>
            <a:ext cx="2468880" cy="841248"/>
          </a:xfrm>
          <a:prstGeom prst="rect">
            <a:avLst/>
          </a:prstGeom>
          <a:solidFill>
            <a:srgbClr val="1A27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0528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Minority class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10528" y="25237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Pasture: 1,457 images — 1.44× below max class count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0" y="3182112"/>
            <a:ext cx="2468880" cy="841248"/>
          </a:xfrm>
          <a:prstGeom prst="rect">
            <a:avLst/>
          </a:prstGeom>
          <a:solidFill>
            <a:srgbClr val="1A27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0528" y="3236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Overall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10528" y="3493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24,412 total images. Imbalance ratio of 1.44× is mild and manageable.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balanced dataset is critical — if one class has far more samples, the model will be biased toward predicting it. This dataset is well-designed.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572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4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Exploration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164592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 any model, we deeply analyze the data — visually, statistically, and spectrally. What patterns exist? What makes each class unique?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Satellite Data Look Like?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has a distinct visual appearance — but some look dangerously similar at first glance</a:t>
            </a:r>
            <a:endParaRPr lang="en-US" sz="1200" dirty="0"/>
          </a:p>
        </p:txBody>
      </p:sp>
      <p:pic>
        <p:nvPicPr>
          <p:cNvPr id="5" name="Image 0" descr="/home/claude/eurosat_ppt/images/eda_sample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3017520" cy="3749040"/>
          </a:xfrm>
          <a:prstGeom prst="rect">
            <a:avLst/>
          </a:prstGeom>
        </p:spPr>
      </p:pic>
      <p:pic>
        <p:nvPicPr>
          <p:cNvPr id="6" name="Image 1" descr="/home/claude/eurosat_ppt/images/eda_mean_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78992"/>
            <a:ext cx="5440680" cy="1691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9000" y="272491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'spectral fingerprint' per class — averaged over all training samples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429000" y="3063240"/>
            <a:ext cx="5440680" cy="420624"/>
          </a:xfrm>
          <a:prstGeom prst="rect">
            <a:avLst/>
          </a:prstGeom>
          <a:solidFill>
            <a:srgbClr val="1A2740"/>
          </a:solidFill>
          <a:ln w="7620">
            <a:solidFill>
              <a:srgbClr val="4B556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566160" y="309067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Forest &amp; SeaLake — dark, near-uniform textures. Very low brightness variance.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429000" y="3557016"/>
            <a:ext cx="5440680" cy="420624"/>
          </a:xfrm>
          <a:prstGeom prst="rect">
            <a:avLst/>
          </a:prstGeom>
          <a:solidFill>
            <a:srgbClr val="1A2740"/>
          </a:solidFill>
          <a:ln w="7620">
            <a:solidFill>
              <a:srgbClr val="4B556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566160" y="358444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🟤  AnnualCrop &amp; PermanentCrop — warm brownish tones with grid-like field patterns.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429000" y="4050792"/>
            <a:ext cx="5440680" cy="420624"/>
          </a:xfrm>
          <a:prstGeom prst="rect">
            <a:avLst/>
          </a:prstGeom>
          <a:solidFill>
            <a:srgbClr val="1A2740"/>
          </a:solidFill>
          <a:ln w="7620">
            <a:solidFill>
              <a:srgbClr val="4B556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66160" y="407822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Industrial &amp; Highway — higher brightness, man-made geometric structures.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29000" y="4544568"/>
            <a:ext cx="5440680" cy="420624"/>
          </a:xfrm>
          <a:prstGeom prst="rect">
            <a:avLst/>
          </a:prstGeom>
          <a:solidFill>
            <a:srgbClr val="1A2740"/>
          </a:solidFill>
          <a:ln w="7620">
            <a:solidFill>
              <a:srgbClr val="4B556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66160" y="45720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Vegetation classes share similar green hues — making them the hardest to separate.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Spectral Channel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histograms reveal each class's unique color signature — the raw material the model must learn from</a:t>
            </a:r>
            <a:endParaRPr lang="en-US" sz="1200" dirty="0"/>
          </a:p>
        </p:txBody>
      </p:sp>
      <p:pic>
        <p:nvPicPr>
          <p:cNvPr id="5" name="Image 0" descr="/home/claude/eurosat_ppt/images/eda_rgb_histog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502920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078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0" y="1508760"/>
            <a:ext cx="33832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1508760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23560" y="15727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23560" y="18379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narrow, dark peak in all channels — extremely homogeneous canopy texture.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359152"/>
            <a:ext cx="33832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0" y="2359152"/>
            <a:ext cx="64008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2423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SeaLake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23560" y="26883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distribution — calm shallow and deep water have different spectral responses.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3209544"/>
            <a:ext cx="33832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0" y="3209544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23560" y="3273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23560" y="35387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spread across all channels — diverse rooftop materials and structures.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0" y="4059936"/>
            <a:ext cx="33832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0" y="4059936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23560" y="41239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AnnualCrop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23560" y="4389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distribution — seasonal crop cycles produce varied field colors year-round.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Even with distinct spectral signatures, raw pixel values alone cannot separate all classes — this is exactly why deep learning is needed.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Quality &amp; Pixel Statistics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Brightness, contrast, sharpness and saturation vary significantly across classes — understanding this prevents training surprises</a:t>
            </a:r>
            <a:endParaRPr lang="en-US" sz="1200" dirty="0"/>
          </a:p>
        </p:txBody>
      </p:sp>
      <p:pic>
        <p:nvPicPr>
          <p:cNvPr id="5" name="Image 0" descr="/home/claude/eurosat_ppt/images/eda_pixel_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5029200" cy="2651760"/>
          </a:xfrm>
          <a:prstGeom prst="rect">
            <a:avLst/>
          </a:prstGeom>
        </p:spPr>
      </p:pic>
      <p:pic>
        <p:nvPicPr>
          <p:cNvPr id="6" name="Image 1" descr="/home/claude/eurosat_ppt/images/eda_violin_qua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078992"/>
            <a:ext cx="342900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3858768"/>
            <a:ext cx="8595360" cy="1097280"/>
          </a:xfrm>
          <a:prstGeom prst="rect">
            <a:avLst/>
          </a:prstGeom>
          <a:solidFill>
            <a:srgbClr val="1A2740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20040" y="3904488"/>
            <a:ext cx="73152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3931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SeaLake: near-zero std → uniform, predictable textures — easy targets for the model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17720" y="3904488"/>
            <a:ext cx="7315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00600" y="3931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Industrial: highest contrast std (46.6) → heterogeneous man-made structures, harder to generalize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" y="4407408"/>
            <a:ext cx="73152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AnnualCrop: wide brightness range → seasonal variation means the model must generalize across lighting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17720" y="4407408"/>
            <a:ext cx="73152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0060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Pasture: narrowest saturation → washed-out colors, can visually blend with other vegetation classes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Similar Are the Classes?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of mean class images — high similarity = potential for model confusion</a:t>
            </a:r>
            <a:endParaRPr lang="en-US" sz="1200" dirty="0"/>
          </a:p>
        </p:txBody>
      </p:sp>
      <p:pic>
        <p:nvPicPr>
          <p:cNvPr id="5" name="Image 0" descr="/home/claude/eurosat_ppt/images/eda_similarit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50292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078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0" y="1508760"/>
            <a:ext cx="33832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96128" y="161848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Most class pairs score 0.96–1.00 in raw pixel cosine similarity — nearly identical in color space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0" y="2359152"/>
            <a:ext cx="33832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96128" y="246888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Forest ↔ AnnualCrop at 0.96: the most 'different' pair — yet still visually very close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3209544"/>
            <a:ext cx="33832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96128" y="3319272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This tells us: a simple color/pixel matcher would fail. The model MUST learn textures and shapes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4059936"/>
            <a:ext cx="33832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96128" y="416966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Deep convolutional features (ResNet50) solve this by capturing spatial structure beyond color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 Raw Pixels Separate the Classes?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reduces 12,288 pixel dimensions to 2D — can we see class clusters forming?</a:t>
            </a:r>
            <a:endParaRPr lang="en-US" sz="1200" dirty="0"/>
          </a:p>
        </p:txBody>
      </p:sp>
      <p:pic>
        <p:nvPicPr>
          <p:cNvPr id="5" name="Image 0" descr="/home/claude/eurosat_ppt/images/eda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82296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407408"/>
            <a:ext cx="8595360" cy="566928"/>
          </a:xfrm>
          <a:prstGeom prst="rect">
            <a:avLst/>
          </a:prstGeom>
          <a:solidFill>
            <a:srgbClr val="1A27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4407408"/>
            <a:ext cx="7315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Raw pixel PCA shows heavy overlap between all classes — no clean separation is visible. The model cannot simply memorize RGB values. This confirms we need a deep feature extractor that learns spatial patterns and textures, not just colors.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572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4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Model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164592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go from raw 64×64 satellite patches to accurate land-use predictions? Meet the ResNet50 transfer learning pipeline.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Transfer Learning?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from scratch requires millions of images. Transfer learning lets us start from a model that already understands the visual world.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3200400"/>
          </a:xfrm>
          <a:prstGeom prst="rect">
            <a:avLst/>
          </a:prstGeom>
          <a:solidFill>
            <a:srgbClr val="1A27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4114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Training From Scratch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millions of labeled images to converge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Takes days/weeks of GPU compute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of overfitting on small datasets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learn everything from scratch — even basic edges and shapes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4114800" cy="3200400"/>
          </a:xfrm>
          <a:prstGeom prst="rect">
            <a:avLst/>
          </a:prstGeom>
          <a:solidFill>
            <a:srgbClr val="1A27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78992"/>
            <a:ext cx="41148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Transfer Learning (ResNet50)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171907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Pretrained on 1.2M ImageNet images — edges, shapes, textures already learned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2677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Fine-tune on just ~18K EuroSAT images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8163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Converges in hours, not days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3649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Proven architecture with strong regularization via residual connections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434840"/>
            <a:ext cx="8549640" cy="50292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8056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ResNet50 already knows what an 'edge', 'texture', 'blob' or 'pattern' looks like — we just teach it which patterns correspond to Forest vs Industrial vs SeaLake.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Model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satellite patch to predicted land-use class — step by step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188720"/>
            <a:ext cx="1609344" cy="2834640"/>
          </a:xfrm>
          <a:prstGeom prst="rect">
            <a:avLst/>
          </a:prstGeom>
          <a:solidFill>
            <a:srgbClr val="1A27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188720"/>
            <a:ext cx="1609344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2984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92608" y="178308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2608" y="2194560"/>
            <a:ext cx="14264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px Sentinel-2 RGB patch. Resized to 224×224 for ResNet50 input.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237744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65960" y="1188720"/>
            <a:ext cx="1609344" cy="2834640"/>
          </a:xfrm>
          <a:prstGeom prst="rect">
            <a:avLst/>
          </a:prstGeom>
          <a:solidFill>
            <a:srgbClr val="1A27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1188720"/>
            <a:ext cx="1609344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2984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57400" y="178308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057400" y="2194560"/>
            <a:ext cx="14264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flips, rotation, color jitter. Normalize with ImageNet mean/std.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93592" y="237744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30752" y="1188720"/>
            <a:ext cx="1609344" cy="2834640"/>
          </a:xfrm>
          <a:prstGeom prst="rect">
            <a:avLst/>
          </a:prstGeom>
          <a:solidFill>
            <a:srgbClr val="1A27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188720"/>
            <a:ext cx="1609344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12984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822192" y="178308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Body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22192" y="2194560"/>
            <a:ext cx="14264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conv layers extract hierarchical features. Residual connections prevent vanishing gradients.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58384" y="237744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95544" y="1188720"/>
            <a:ext cx="1609344" cy="2834640"/>
          </a:xfrm>
          <a:prstGeom prst="rect">
            <a:avLst/>
          </a:prstGeom>
          <a:solidFill>
            <a:srgbClr val="1A27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95544" y="1188720"/>
            <a:ext cx="16093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6984" y="12984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86984" y="178308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86984" y="2194560"/>
            <a:ext cx="14264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 → 512-dim FC layer → Dropout (0.5) → 10-class output.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23176" y="237744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60336" y="1188720"/>
            <a:ext cx="1609344" cy="2834640"/>
          </a:xfrm>
          <a:prstGeom prst="rect">
            <a:avLst/>
          </a:prstGeom>
          <a:solidFill>
            <a:srgbClr val="1A27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0336" y="1188720"/>
            <a:ext cx="1609344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51776" y="12984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351776" y="178308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51776" y="2194560"/>
            <a:ext cx="14264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probabilities over 10 classes. Argmax = predicted land-use category.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1168" y="4160520"/>
            <a:ext cx="8686800" cy="804672"/>
          </a:xfrm>
          <a:prstGeom prst="rect">
            <a:avLst/>
          </a:prstGeom>
          <a:solidFill>
            <a:srgbClr val="1A2740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2519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Loss: Cross-Entropy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57400" y="42519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Optimizer: Adam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794760" y="42519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LR Scheduler: CosineAnnealing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532120" y="42519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Early Stopping: patience=5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69480" y="42519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Hardware: CUDA GPU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572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4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Analysis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164592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did the model perform? We evaluate accuracy, confidence calibration, t-SNE feature visualization, and analyze where and why errors occur.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on Validation 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confusion matrix and per-class accuracy breakdown</a:t>
            </a:r>
            <a:endParaRPr lang="en-US" sz="1200" dirty="0"/>
          </a:p>
        </p:txBody>
      </p:sp>
      <p:pic>
        <p:nvPicPr>
          <p:cNvPr id="5" name="Image 0" descr="/home/claude/eurosat_ppt/images/eda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676656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78040" y="1078992"/>
            <a:ext cx="1691640" cy="1005840"/>
          </a:xfrm>
          <a:prstGeom prst="rect">
            <a:avLst/>
          </a:prstGeom>
          <a:solidFill>
            <a:srgbClr val="1A274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78040" y="115214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178040" y="17007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178040" y="2231136"/>
            <a:ext cx="1691640" cy="1005840"/>
          </a:xfrm>
          <a:prstGeom prst="rect">
            <a:avLst/>
          </a:prstGeom>
          <a:solidFill>
            <a:srgbClr val="1A2740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78040" y="23042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99.5%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178040" y="28529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SeaLake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178040" y="3383280"/>
            <a:ext cx="1691640" cy="1005840"/>
          </a:xfrm>
          <a:prstGeom prst="rect">
            <a:avLst/>
          </a:prstGeom>
          <a:solidFill>
            <a:srgbClr val="1A274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78040" y="34564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87.6%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178040" y="40050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Weakest: PermanentCrop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74320" y="45079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diagonal of the confusion matrix is nearly all 1s — meaning the model correctly identifies almost every class. The only notable off-diagonal errors are Forest being confused with SeaLake and PermanentCrop with AnnualCrop.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t-SNE: What Has the Model Learned?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Visualising ResNet50 deep features after training — did it form meaningful class clusters?</a:t>
            </a:r>
            <a:endParaRPr lang="en-US" sz="1200" dirty="0"/>
          </a:p>
        </p:txBody>
      </p:sp>
      <p:pic>
        <p:nvPicPr>
          <p:cNvPr id="5" name="Image 0" descr="/home/claude/eurosat_ppt/images/eda_ts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530352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10789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Plot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60720" y="1508760"/>
            <a:ext cx="31546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0448" y="1600200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Each color = one class. Tight clusters = model has learned to separate them well.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377440"/>
            <a:ext cx="31546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70448" y="2468880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SeaLake, Highway, Industrial form the tightest clusters — consistent visual patterns.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3246120"/>
            <a:ext cx="31546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3337560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AnnualCrop and PermanentCrop show slight overlap — both are row-crop field types.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4114800"/>
            <a:ext cx="3154680" cy="749808"/>
          </a:xfrm>
          <a:prstGeom prst="rect">
            <a:avLst/>
          </a:prstGeom>
          <a:solidFill>
            <a:srgbClr val="1A27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0448" y="4206240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Compare this to the raw pixel PCA — the transformation is remarkable. Deep learning works.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Confidence &amp; Calibration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isn't enough — a trustworthy model must also know when it is uncertain</a:t>
            </a:r>
            <a:endParaRPr lang="en-US" sz="1200" dirty="0"/>
          </a:p>
        </p:txBody>
      </p:sp>
      <p:pic>
        <p:nvPicPr>
          <p:cNvPr id="5" name="Image 0" descr="/home/claude/eurosat_ppt/images/eda_conf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841248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160520"/>
            <a:ext cx="2788920" cy="804672"/>
          </a:xfrm>
          <a:prstGeom prst="rect">
            <a:avLst/>
          </a:prstGeom>
          <a:solidFill>
            <a:srgbClr val="1A27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4160520"/>
            <a:ext cx="27889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2519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Calibration?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" y="449884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model that says '90% confident' should be correct ~90% of the time. Uncalibrated models are over- or under-confident — dangerous in production.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18688" y="4160520"/>
            <a:ext cx="2788920" cy="804672"/>
          </a:xfrm>
          <a:prstGeom prst="rect">
            <a:avLst/>
          </a:prstGeom>
          <a:solidFill>
            <a:srgbClr val="1A27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18688" y="4160520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28416" y="42519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= 0.011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28416" y="449884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 of 0.011 (near-perfect, 0 = ideal). This model's confidence scores are accurate and trustworthy for real-world deployment.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63056" y="4160520"/>
            <a:ext cx="2788920" cy="804672"/>
          </a:xfrm>
          <a:prstGeom prst="rect">
            <a:avLst/>
          </a:prstGeom>
          <a:solidFill>
            <a:srgbClr val="1A27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63056" y="4160520"/>
            <a:ext cx="278892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2784" y="42519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Distribution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72784" y="449884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 (green) cluster near 1.0 confidence. Incorrect predictions (red) are spread lower — the model knows when it's unsure.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Does the Model Fail?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the most confidently wrong predictions — understanding failures drives improvement</a:t>
            </a:r>
            <a:endParaRPr lang="en-US" sz="1200" dirty="0"/>
          </a:p>
        </p:txBody>
      </p:sp>
      <p:pic>
        <p:nvPicPr>
          <p:cNvPr id="5" name="Image 0" descr="/home/claude/eurosat_ppt/images/eda_worst_predi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45720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0" y="1508760"/>
            <a:ext cx="3840480" cy="694944"/>
          </a:xfrm>
          <a:prstGeom prst="rect">
            <a:avLst/>
          </a:prstGeom>
          <a:solidFill>
            <a:srgbClr val="1A27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0" y="1508760"/>
            <a:ext cx="64008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156362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Forest  →  Predicted: SeaLake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166360" y="1837944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uniform forest canopies and calm deep water have near-identical spectral signatures. Without NIR bands, they look the same.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0" y="2313432"/>
            <a:ext cx="3840480" cy="694944"/>
          </a:xfrm>
          <a:prstGeom prst="rect">
            <a:avLst/>
          </a:prstGeom>
          <a:solidFill>
            <a:srgbClr val="1A27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0" y="2313432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0" y="236829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Pasture  →  Predicted: SeaLake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166360" y="2642616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Flooded or irrigated pasture fields can appear water-like in RGB bands.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0" y="3118104"/>
            <a:ext cx="3840480" cy="694944"/>
          </a:xfrm>
          <a:prstGeom prst="rect">
            <a:avLst/>
          </a:prstGeom>
          <a:solidFill>
            <a:srgbClr val="1A27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0" y="3118104"/>
            <a:ext cx="64008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66360" y="317296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Pasture  →  Predicted: HerbaceousVeg.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166360" y="3447288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grass and managed pasture share virtually identical spectral profiles.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3922776"/>
            <a:ext cx="3840480" cy="694944"/>
          </a:xfrm>
          <a:prstGeom prst="rect">
            <a:avLst/>
          </a:prstGeom>
          <a:solidFill>
            <a:srgbClr val="1A27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0" y="3922776"/>
            <a:ext cx="64008" cy="6949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66360" y="397764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PermanentCrop  →  Predicted: AnnualCrop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166360" y="4251960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Orchards and annual crop fields both show row patterns at this resolution.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1A27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7183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Fix: Adding Sentinel-2's NIR and SWIR spectral bands would immediately resolve Forest/SeaLake confusion — vegetation reflects strongly in NIR, water does not.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572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4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Impact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164592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95.4% accurate satellite classifier is not just a research result — it is a deployable tool that can transform environmental monitoring.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conservation monitoring to urban planning — automated land-use classification at planetary scale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8016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Deforestation Alerts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73352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Forest → AnnualCrop/Industrial transitions. Trigger conservation alerts within days of change.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11704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170432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28016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Agricultural Intelligence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8416" y="1673352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crop types, predict harvest yields, detect illegal cultivation. Enables national-scale food security monitoring.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1704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170432"/>
            <a:ext cx="27889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28016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Urban Expansion Monitoring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1673352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residential growth patterns. Flag encroachment on greenbelts. Support city planning with real data.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70632"/>
            <a:ext cx="278892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88036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Water Resource Mapping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273552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SeaLake and River extents for drought early-warning, flood zone mapping, reservoir levels.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27706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2770632"/>
            <a:ext cx="27889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288036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Policy &amp; Compliance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28416" y="3273552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EU land-use directive compliance checks. Reduce manual inspection costs by 90%+.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27706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2770632"/>
            <a:ext cx="27889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88036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Climate Modelling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3273552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land-cover maps into carbon sequestration and climate models. Track ecosystem changes over decades.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model is a strong foundation — these improvements would push it toward production deployment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64008" cy="14630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8016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Add Spectral Bands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82496"/>
            <a:ext cx="2542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Sentinel-2 NIR &amp; SWIR bands. This would directly resolve the Forest/SeaLake confusion and boost accuracy beyond 97%.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11704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170432"/>
            <a:ext cx="64008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8016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Multi-Temporal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82496"/>
            <a:ext cx="2542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image sequences over time, not single snapshots. Seasonal changes provide rich temporal context that removes ambiguity.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1704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170432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28016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Ensemble Models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1682496"/>
            <a:ext cx="2542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ResNet50 with Vision Transformers (ViT) and EfficientNet. Ensemble typically gains 1–2% accuracy with strong calibration.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70632"/>
            <a:ext cx="64008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88036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Real-Time Pipeline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3282696"/>
            <a:ext cx="2542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to Sentinel-2 data API. Run inference every 5 days on new imagery. Generate automated change-detection alerts.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27706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2770632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88036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Explainability (GradCAM)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282696"/>
            <a:ext cx="2542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explanations of which image regions drive predictions. Essential for regulatory approval and scientific trust.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2770632"/>
            <a:ext cx="2788920" cy="1463040"/>
          </a:xfrm>
          <a:prstGeom prst="rect">
            <a:avLst/>
          </a:prstGeom>
          <a:solidFill>
            <a:srgbClr val="1A27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2770632"/>
            <a:ext cx="64008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288036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Global Deployment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27648" y="3282696"/>
            <a:ext cx="2542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beyond Europe. Validate on Africa, Asia, South America. Build a global land-use change monitoring system.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1389888"/>
          </a:xfrm>
          <a:prstGeom prst="rect">
            <a:avLst/>
          </a:prstGeom>
          <a:solidFill>
            <a:srgbClr val="1A27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73152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The Problem Is Real &amp; Urgent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land-use mapping cannot scale. Satellites produce more data than humans can analyze. AI automation is not optional — it is necessary.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24128"/>
            <a:ext cx="4206240" cy="1389888"/>
          </a:xfrm>
          <a:prstGeom prst="rect">
            <a:avLst/>
          </a:prstGeom>
          <a:solidFill>
            <a:srgbClr val="1A27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024128"/>
            <a:ext cx="73152" cy="1389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 Quality Shapes Model Success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27048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revealed spectral fingerprints, class imbalances, and inter-class confusion zones before a single model was trained. Know your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32888"/>
            <a:ext cx="4206240" cy="1389888"/>
          </a:xfrm>
          <a:prstGeom prst="rect">
            <a:avLst/>
          </a:prstGeom>
          <a:solidFill>
            <a:srgbClr val="1A27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32888"/>
            <a:ext cx="73152" cy="138988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2432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Deep Features Beat Raw Pixels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035808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proves ResNet50 learns spatial textures far beyond color. The 95.4% accuracy is earned, not luck.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32888"/>
            <a:ext cx="4206240" cy="1389888"/>
          </a:xfrm>
          <a:prstGeom prst="rect">
            <a:avLst/>
          </a:prstGeom>
          <a:solidFill>
            <a:srgbClr val="1A27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532888"/>
            <a:ext cx="73152" cy="1389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2432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Calibration Enables Trust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035808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ECE of 0.011 means this model is deployable. Confidence scores are meaningful — critical for real-world use cases.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749808"/>
          </a:xfrm>
          <a:prstGeom prst="rect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60520"/>
            <a:ext cx="73152" cy="7498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062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Next: Add NIR/SWIR bands · Multi-temporal sequences · Global deployment pipeline · Automated change-detection alerts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EuroSAT Land-Use Classification</dc:title>
  <dc:subject>PptxGenJS Presentation</dc:subject>
  <dc:creator>PptxGenJS</dc:creator>
  <cp:lastModifiedBy>PptxGenJS</cp:lastModifiedBy>
  <cp:revision>1</cp:revision>
  <dcterms:created xsi:type="dcterms:W3CDTF">2026-04-05T18:05:12Z</dcterms:created>
  <dcterms:modified xsi:type="dcterms:W3CDTF">2026-04-05T18:05:12Z</dcterms:modified>
</cp:coreProperties>
</file>